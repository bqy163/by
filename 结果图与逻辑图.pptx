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false" snapToObjects="true">
      <p:cViewPr varScale="true">
        <p:scale>
          <a:sx n="106" d="100"/>
          <a:sy n="106" d="100"/>
        </p:scale>
        <p:origin x="20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notesMaster" Target="notesMasters/notesMaster1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2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7" Type="http://schemas.openxmlformats.org/officeDocument/2006/relationships/slide" Target="slides/slide7.xml" /><Relationship Id="rId2" Type="http://schemas.openxmlformats.org/officeDocument/2006/relationships/slide" Target="slides/slide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false" lang="en-US" sz="1800" b="false" i="false" u="none" strike="noStrike" kern="1200" cap="none" spc="0" normalizeH="false" baseline="0" noProof="fals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7</a:t>
            </a:fld>
            <a:endParaRPr kumimoji="false" 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false" lang="en-US" sz="1800" b="false" i="false" u="none" strike="noStrike" kern="1200" cap="none" spc="0" normalizeH="false" baseline="0" noProof="fals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8</a:t>
            </a:fld>
            <a:endParaRPr kumimoji="false" lang="en-US" sz="1800" b="false" i="false" u="none" strike="noStrike" kern="1200" cap="none" spc="0" normalizeH="false" baseline="0" noProof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6" Type="http://schemas.openxmlformats.org/officeDocument/2006/relationships/image" Target="media/image6.gif" /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3" Type="http://schemas.openxmlformats.org/officeDocument/2006/relationships/image" Target="media/image3.png" /><Relationship Id="rId5" Type="http://schemas.openxmlformats.org/officeDocument/2006/relationships/image" Target="media/image5.png" /><Relationship Id="rId4" Type="http://schemas.openxmlformats.org/officeDocument/2006/relationships/image" Target="media/image4.png" /></Relationships>
</file>

<file path=ppt/slides/_rels/slide3.xml.rels><?xml version="1.0" encoding="UTF-8" standalone="yes"?><Relationships xmlns="http://schemas.openxmlformats.org/package/2006/relationships"><Relationship Id="rId5" Type="http://schemas.openxmlformats.org/officeDocument/2006/relationships/image" Target="media/image10.png" /><Relationship Id="rId4" Type="http://schemas.openxmlformats.org/officeDocument/2006/relationships/image" Target="media/image9.png" /><Relationship Id="rId3" Type="http://schemas.openxmlformats.org/officeDocument/2006/relationships/image" Target="media/image8.png" /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13.png" /><Relationship Id="rId3" Type="http://schemas.openxmlformats.org/officeDocument/2006/relationships/image" Target="media/image12.png" /><Relationship Id="rId2" Type="http://schemas.openxmlformats.org/officeDocument/2006/relationships/image" Target="media/image11.png" /><Relationship Id="rId5" Type="http://schemas.openxmlformats.org/officeDocument/2006/relationships/image" Target="media/image14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image" Target="media/image18.png" /><Relationship Id="rId4" Type="http://schemas.openxmlformats.org/officeDocument/2006/relationships/image" Target="media/image17.png" /><Relationship Id="rId2" Type="http://schemas.openxmlformats.org/officeDocument/2006/relationships/image" Target="media/image15.png" /><Relationship Id="rId3" Type="http://schemas.openxmlformats.org/officeDocument/2006/relationships/image" Target="media/image16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20.png" /><Relationship Id="rId2" Type="http://schemas.openxmlformats.org/officeDocument/2006/relationships/image" Target="media/image19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22.png" /><Relationship Id="rId2" Type="http://schemas.openxmlformats.org/officeDocument/2006/relationships/image" Target="media/image2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3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false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4709160" cy="5760720"/>
          </a:xfrm>
          <a:prstGeom prst="rect">
            <a:avLst/>
          </a:prstGeom>
          <a:solidFill>
            <a:srgbClr val="0891B2">
              <a:alpha val="98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40233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false" anchor="ctr">
            <a:normAutofit/>
          </a:bodyPr>
          <a:lstStyle/>
          <a:p>
            <a:pPr marL="0" indent="0">
              <a:buNone/>
            </a:pPr>
            <a:r>
              <a:rPr lang="en-US" sz="3100" b="true" dirty="false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草莓模型</a:t>
            </a:r>
            <a:endParaRPr lang="en-US" sz="3100" dirty="false"/>
          </a:p>
          <a:p>
            <a:pPr marL="0" indent="0">
              <a:buNone/>
            </a:pPr>
            <a:r>
              <a:rPr lang="en-US" sz="3100" b="true" dirty="false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图片展示</a:t>
            </a:r>
            <a:endParaRPr lang="en-US" sz="3100" dirty="false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1350" dirty="false">
                <a:solidFill>
                  <a:srgbClr val="DD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 / UFWM 系列图像汇总</a:t>
            </a:r>
            <a:endParaRPr lang="en-US" sz="1350" dirty="false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16459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5413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endParaRPr lang="en-US" sz="850" dirty="false"/>
          </a:p>
        </p:txBody>
      </p:sp>
      <p:sp>
        <p:nvSpPr>
          <p:cNvPr id="11" name="Shape 9"/>
          <p:cNvSpPr/>
          <p:nvPr/>
        </p:nvSpPr>
        <p:spPr>
          <a:xfrm>
            <a:off x="5532120" y="658368"/>
            <a:ext cx="5989320" cy="5349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" name="Image 0" descr="c:\Users\R9000P\.trae-cn\attachments\6a44a72a3863ec4f600976df\9b8646c7-0a95-4554-9905-6e7fb8d79b61_UFBA1401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5623560" y="749808"/>
            <a:ext cx="5806440" cy="484174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23560" y="5586984"/>
            <a:ext cx="5806440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678424" y="5641848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12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UFBA1401</a:t>
            </a:r>
            <a:endParaRPr lang="en-US" sz="1200" dirty="fal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ECFEFF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17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false"/>
          </a:p>
        </p:txBody>
      </p:sp>
      <p:sp>
        <p:nvSpPr>
          <p:cNvPr id="20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UFBA1401</a:t>
            </a:r>
            <a:endParaRPr lang="en-US" sz="2500" dirty="false"/>
          </a:p>
        </p:txBody>
      </p:sp>
      <p:sp>
        <p:nvSpPr>
          <p:cNvPr id="21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85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动态演示与指标变化</a:t>
            </a:r>
            <a:endParaRPr lang="en-US" sz="850" dirty="false"/>
          </a:p>
        </p:txBody>
      </p:sp>
      <p:sp>
        <p:nvSpPr>
          <p:cNvPr id="22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7"/>
          <p:cNvSpPr/>
          <p:nvPr/>
        </p:nvSpPr>
        <p:spPr>
          <a:xfrm>
            <a:off x="566928" y="1225296"/>
            <a:ext cx="3703320" cy="4892040"/>
          </a:xfrm>
          <a:prstGeom prst="roundRect">
            <a:avLst>
              <a:gd name="adj" fmla="val 321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8"/>
          <p:cNvSpPr/>
          <p:nvPr/>
        </p:nvSpPr>
        <p:spPr>
          <a:xfrm>
            <a:off x="658368" y="5751576"/>
            <a:ext cx="3520440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9"/>
          <p:cNvSpPr/>
          <p:nvPr/>
        </p:nvSpPr>
        <p:spPr>
          <a:xfrm>
            <a:off x="713232" y="580644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10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动态演示</a:t>
            </a:r>
            <a:endParaRPr lang="en-US" sz="1000" dirty="false"/>
          </a:p>
        </p:txBody>
      </p:sp>
      <p:sp>
        <p:nvSpPr>
          <p:cNvPr id="26" name="Shape 10"/>
          <p:cNvSpPr/>
          <p:nvPr/>
        </p:nvSpPr>
        <p:spPr>
          <a:xfrm>
            <a:off x="4526280" y="1225296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7" name="Image 1" descr="c:\Users\R9000P\.trae-cn\attachments\6a44a72a3863ec4f600976df\cf0e74f9-5bd6-4ddd-8cc0-ec2812b86175_UFBA1401_根系深度变化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4599432" y="1298448"/>
            <a:ext cx="3218688" cy="1830629"/>
          </a:xfrm>
          <a:prstGeom prst="rect">
            <a:avLst/>
          </a:prstGeom>
        </p:spPr>
      </p:pic>
      <p:sp>
        <p:nvSpPr>
          <p:cNvPr id="28" name="Shape 11"/>
          <p:cNvSpPr/>
          <p:nvPr/>
        </p:nvSpPr>
        <p:spPr>
          <a:xfrm>
            <a:off x="4617720" y="3118104"/>
            <a:ext cx="3182112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12"/>
          <p:cNvSpPr/>
          <p:nvPr/>
        </p:nvSpPr>
        <p:spPr>
          <a:xfrm>
            <a:off x="4672584" y="31729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根系深度变化</a:t>
            </a:r>
            <a:endParaRPr lang="en-US" sz="950" dirty="false"/>
          </a:p>
        </p:txBody>
      </p:sp>
      <p:sp>
        <p:nvSpPr>
          <p:cNvPr id="30" name="Shape 13"/>
          <p:cNvSpPr/>
          <p:nvPr/>
        </p:nvSpPr>
        <p:spPr>
          <a:xfrm>
            <a:off x="8183880" y="1225296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1" name="Image 2" descr="c:\Users\R9000P\.trae-cn\attachments\6a44a72a3863ec4f600976df\1d1aef3e-069a-4ed1-9fbc-9bd9a6d3e54a_UFBA1401_光合速率变化.png"/>
          <p:cNvPicPr>
            <a:picLocks noChangeAspect="true"/>
          </p:cNvPicPr>
          <p:nvPr/>
        </p:nvPicPr>
        <p:blipFill>
          <a:blip r:embed="rId3"/>
          <a:srcRect/>
          <a:stretch/>
        </p:blipFill>
        <p:spPr>
          <a:xfrm>
            <a:off x="8257032" y="1298448"/>
            <a:ext cx="3218688" cy="1830629"/>
          </a:xfrm>
          <a:prstGeom prst="rect">
            <a:avLst/>
          </a:prstGeom>
        </p:spPr>
      </p:pic>
      <p:sp>
        <p:nvSpPr>
          <p:cNvPr id="32" name="Shape 14"/>
          <p:cNvSpPr/>
          <p:nvPr/>
        </p:nvSpPr>
        <p:spPr>
          <a:xfrm>
            <a:off x="8275320" y="3118104"/>
            <a:ext cx="3182112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15"/>
          <p:cNvSpPr/>
          <p:nvPr/>
        </p:nvSpPr>
        <p:spPr>
          <a:xfrm>
            <a:off x="8330184" y="31729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光合速率变化</a:t>
            </a:r>
            <a:endParaRPr lang="en-US" sz="950" dirty="false"/>
          </a:p>
        </p:txBody>
      </p:sp>
      <p:sp>
        <p:nvSpPr>
          <p:cNvPr id="34" name="Shape 16"/>
          <p:cNvSpPr/>
          <p:nvPr/>
        </p:nvSpPr>
        <p:spPr>
          <a:xfrm>
            <a:off x="4526280" y="3895344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5" name="Image 3" descr="c:\Users\R9000P\.trae-cn\attachments\6a44a72a3863ec4f600976df\d17388bc-b3ed-4881-86bf-c0e060f14931_UFBA1401_生物量变化.png"/>
          <p:cNvPicPr>
            <a:picLocks noChangeAspect="true"/>
          </p:cNvPicPr>
          <p:nvPr/>
        </p:nvPicPr>
        <p:blipFill>
          <a:blip r:embed="rId4"/>
          <a:srcRect/>
          <a:stretch/>
        </p:blipFill>
        <p:spPr>
          <a:xfrm>
            <a:off x="4599432" y="3968496"/>
            <a:ext cx="3218688" cy="1830629"/>
          </a:xfrm>
          <a:prstGeom prst="rect">
            <a:avLst/>
          </a:prstGeom>
        </p:spPr>
      </p:pic>
      <p:sp>
        <p:nvSpPr>
          <p:cNvPr id="36" name="Shape 17"/>
          <p:cNvSpPr/>
          <p:nvPr/>
        </p:nvSpPr>
        <p:spPr>
          <a:xfrm>
            <a:off x="4617720" y="5788152"/>
            <a:ext cx="3182112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18"/>
          <p:cNvSpPr/>
          <p:nvPr/>
        </p:nvSpPr>
        <p:spPr>
          <a:xfrm>
            <a:off x="4672584" y="584301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生物量变化</a:t>
            </a:r>
            <a:endParaRPr lang="en-US" sz="950" dirty="false"/>
          </a:p>
        </p:txBody>
      </p:sp>
      <p:sp>
        <p:nvSpPr>
          <p:cNvPr id="38" name="Shape 19"/>
          <p:cNvSpPr/>
          <p:nvPr/>
        </p:nvSpPr>
        <p:spPr>
          <a:xfrm>
            <a:off x="8183880" y="3895344"/>
            <a:ext cx="3364992" cy="2221992"/>
          </a:xfrm>
          <a:prstGeom prst="roundRect">
            <a:avLst>
              <a:gd name="adj" fmla="val 5350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9" name="Image 4" descr="c:\Users\R9000P\.trae-cn\attachments\6a44a72a3863ec4f600976df\f63c40d2-f270-467b-b7c4-968e44008c5a_UFBA1401_叶面积指数变化.png"/>
          <p:cNvPicPr>
            <a:picLocks noChangeAspect="true"/>
          </p:cNvPicPr>
          <p:nvPr/>
        </p:nvPicPr>
        <p:blipFill>
          <a:blip r:embed="rId5"/>
          <a:srcRect/>
          <a:stretch/>
        </p:blipFill>
        <p:spPr>
          <a:xfrm>
            <a:off x="8257032" y="3968496"/>
            <a:ext cx="3218688" cy="1830629"/>
          </a:xfrm>
          <a:prstGeom prst="rect">
            <a:avLst/>
          </a:prstGeom>
        </p:spPr>
      </p:pic>
      <p:sp>
        <p:nvSpPr>
          <p:cNvPr id="40" name="Shape 20"/>
          <p:cNvSpPr/>
          <p:nvPr/>
        </p:nvSpPr>
        <p:spPr>
          <a:xfrm>
            <a:off x="8275320" y="5788152"/>
            <a:ext cx="3182112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21"/>
          <p:cNvSpPr/>
          <p:nvPr/>
        </p:nvSpPr>
        <p:spPr>
          <a:xfrm>
            <a:off x="8330184" y="584301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叶面积指数变化</a:t>
            </a:r>
            <a:endParaRPr lang="en-US" sz="950" dirty="false"/>
          </a:p>
        </p:txBody>
      </p:sp>
      <p:pic>
        <p:nvPicPr>
          <p:cNvPr id="42" name="图片 3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69" y="1335987"/>
            <a:ext cx="3537675" cy="44155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ECFEF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45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false"/>
          </a:p>
        </p:txBody>
      </p:sp>
      <p:sp>
        <p:nvSpPr>
          <p:cNvPr id="48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UFBA1601</a:t>
            </a:r>
            <a:endParaRPr lang="en-US" sz="2500" dirty="false"/>
          </a:p>
        </p:txBody>
      </p:sp>
      <p:sp>
        <p:nvSpPr>
          <p:cNvPr id="49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85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四项指标变化</a:t>
            </a:r>
            <a:endParaRPr lang="en-US" sz="850" dirty="false"/>
          </a:p>
        </p:txBody>
      </p:sp>
      <p:sp>
        <p:nvSpPr>
          <p:cNvPr id="50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1" name="Shape 7"/>
          <p:cNvSpPr/>
          <p:nvPr/>
        </p:nvSpPr>
        <p:spPr>
          <a:xfrm>
            <a:off x="566928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2" name="Image 0" descr="c:\Users\R9000P\.trae-cn\attachments\6a44a72a3863ec4f600976df\a141247e-6273-4d21-bb33-269c8bfb388a_UFBA1601_根系深度变化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640080" y="1307592"/>
            <a:ext cx="5102352" cy="1821485"/>
          </a:xfrm>
          <a:prstGeom prst="rect">
            <a:avLst/>
          </a:prstGeom>
        </p:spPr>
      </p:pic>
      <p:sp>
        <p:nvSpPr>
          <p:cNvPr id="53" name="Shape 8"/>
          <p:cNvSpPr/>
          <p:nvPr/>
        </p:nvSpPr>
        <p:spPr>
          <a:xfrm>
            <a:off x="658368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9"/>
          <p:cNvSpPr/>
          <p:nvPr/>
        </p:nvSpPr>
        <p:spPr>
          <a:xfrm>
            <a:off x="713232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根系深度变化</a:t>
            </a:r>
            <a:endParaRPr lang="en-US" sz="950" dirty="false"/>
          </a:p>
        </p:txBody>
      </p:sp>
      <p:sp>
        <p:nvSpPr>
          <p:cNvPr id="55" name="Shape 10"/>
          <p:cNvSpPr/>
          <p:nvPr/>
        </p:nvSpPr>
        <p:spPr>
          <a:xfrm>
            <a:off x="6382512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56" name="Image 1" descr="c:\Users\R9000P\.trae-cn\attachments\6a44a72a3863ec4f600976df\49c83827-6ef4-42f5-b6d6-4cc1d52ee43a_UFBA1601_光合速率变化.png"/>
          <p:cNvPicPr>
            <a:picLocks noChangeAspect="true"/>
          </p:cNvPicPr>
          <p:nvPr/>
        </p:nvPicPr>
        <p:blipFill>
          <a:blip r:embed="rId3"/>
          <a:srcRect/>
          <a:stretch/>
        </p:blipFill>
        <p:spPr>
          <a:xfrm>
            <a:off x="6455664" y="1307592"/>
            <a:ext cx="5102352" cy="1821485"/>
          </a:xfrm>
          <a:prstGeom prst="rect">
            <a:avLst/>
          </a:prstGeom>
        </p:spPr>
      </p:pic>
      <p:sp>
        <p:nvSpPr>
          <p:cNvPr id="57" name="Shape 11"/>
          <p:cNvSpPr/>
          <p:nvPr/>
        </p:nvSpPr>
        <p:spPr>
          <a:xfrm>
            <a:off x="6473952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12"/>
          <p:cNvSpPr/>
          <p:nvPr/>
        </p:nvSpPr>
        <p:spPr>
          <a:xfrm>
            <a:off x="6528816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光合速率变化</a:t>
            </a:r>
            <a:endParaRPr lang="en-US" sz="950" dirty="false"/>
          </a:p>
        </p:txBody>
      </p:sp>
      <p:sp>
        <p:nvSpPr>
          <p:cNvPr id="59" name="Shape 13"/>
          <p:cNvSpPr/>
          <p:nvPr/>
        </p:nvSpPr>
        <p:spPr>
          <a:xfrm>
            <a:off x="566928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0" name="Image 2" descr="c:\Users\R9000P\.trae-cn\attachments\6a44a72a3863ec4f600976df\b295cebf-05f7-4366-b9b1-5703ea7384a0_UFBA1601_生物量变化.png"/>
          <p:cNvPicPr>
            <a:picLocks noChangeAspect="true"/>
          </p:cNvPicPr>
          <p:nvPr/>
        </p:nvPicPr>
        <p:blipFill>
          <a:blip r:embed="rId4"/>
          <a:srcRect/>
          <a:stretch/>
        </p:blipFill>
        <p:spPr>
          <a:xfrm>
            <a:off x="640080" y="3959352"/>
            <a:ext cx="5102352" cy="1821485"/>
          </a:xfrm>
          <a:prstGeom prst="rect">
            <a:avLst/>
          </a:prstGeom>
        </p:spPr>
      </p:pic>
      <p:sp>
        <p:nvSpPr>
          <p:cNvPr id="61" name="Shape 14"/>
          <p:cNvSpPr/>
          <p:nvPr/>
        </p:nvSpPr>
        <p:spPr>
          <a:xfrm>
            <a:off x="658368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15"/>
          <p:cNvSpPr/>
          <p:nvPr/>
        </p:nvSpPr>
        <p:spPr>
          <a:xfrm>
            <a:off x="713232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生物量变化</a:t>
            </a:r>
            <a:endParaRPr lang="en-US" sz="950" dirty="false"/>
          </a:p>
        </p:txBody>
      </p:sp>
      <p:sp>
        <p:nvSpPr>
          <p:cNvPr id="63" name="Shape 16"/>
          <p:cNvSpPr/>
          <p:nvPr/>
        </p:nvSpPr>
        <p:spPr>
          <a:xfrm>
            <a:off x="6382512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4" name="Image 3" descr="c:\Users\R9000P\.trae-cn\attachments\6a44a72a3863ec4f600976df\395dc018-099f-4e17-8db1-4bcaefabb636_UFBA1601_叶面积指数变化.png"/>
          <p:cNvPicPr>
            <a:picLocks noChangeAspect="true"/>
          </p:cNvPicPr>
          <p:nvPr/>
        </p:nvPicPr>
        <p:blipFill>
          <a:blip r:embed="rId5"/>
          <a:srcRect/>
          <a:stretch/>
        </p:blipFill>
        <p:spPr>
          <a:xfrm>
            <a:off x="6455664" y="3959352"/>
            <a:ext cx="5102352" cy="1821485"/>
          </a:xfrm>
          <a:prstGeom prst="rect">
            <a:avLst/>
          </a:prstGeom>
        </p:spPr>
      </p:pic>
      <p:sp>
        <p:nvSpPr>
          <p:cNvPr id="65" name="Shape 17"/>
          <p:cNvSpPr/>
          <p:nvPr/>
        </p:nvSpPr>
        <p:spPr>
          <a:xfrm>
            <a:off x="6473952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18"/>
          <p:cNvSpPr/>
          <p:nvPr/>
        </p:nvSpPr>
        <p:spPr>
          <a:xfrm>
            <a:off x="6528816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叶面积指数变化</a:t>
            </a:r>
            <a:endParaRPr lang="en-US" sz="950" dirty="fals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ECFEFF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69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false"/>
          </a:p>
        </p:txBody>
      </p:sp>
      <p:sp>
        <p:nvSpPr>
          <p:cNvPr id="72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UFBA1701</a:t>
            </a:r>
            <a:endParaRPr lang="en-US" sz="2500" dirty="false"/>
          </a:p>
        </p:txBody>
      </p:sp>
      <p:sp>
        <p:nvSpPr>
          <p:cNvPr id="73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85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四项指标变化</a:t>
            </a:r>
            <a:endParaRPr lang="en-US" sz="850" dirty="false"/>
          </a:p>
        </p:txBody>
      </p:sp>
      <p:sp>
        <p:nvSpPr>
          <p:cNvPr id="74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5" name="Shape 7"/>
          <p:cNvSpPr/>
          <p:nvPr/>
        </p:nvSpPr>
        <p:spPr>
          <a:xfrm>
            <a:off x="566928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6" name="Image 0" descr="c:\Users\R9000P\.trae-cn\attachments\6a44a72a3863ec4f600976df\564f854a-4bff-4593-97f7-2ad13f537fb2_UFBA1701_根系深度变化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640080" y="1307592"/>
            <a:ext cx="5102352" cy="1821485"/>
          </a:xfrm>
          <a:prstGeom prst="rect">
            <a:avLst/>
          </a:prstGeom>
        </p:spPr>
      </p:pic>
      <p:sp>
        <p:nvSpPr>
          <p:cNvPr id="77" name="Shape 8"/>
          <p:cNvSpPr/>
          <p:nvPr/>
        </p:nvSpPr>
        <p:spPr>
          <a:xfrm>
            <a:off x="658368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" name="Text 9"/>
          <p:cNvSpPr/>
          <p:nvPr/>
        </p:nvSpPr>
        <p:spPr>
          <a:xfrm>
            <a:off x="713232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根系深度变化</a:t>
            </a:r>
            <a:endParaRPr lang="en-US" sz="950" dirty="false"/>
          </a:p>
        </p:txBody>
      </p:sp>
      <p:sp>
        <p:nvSpPr>
          <p:cNvPr id="79" name="Shape 10"/>
          <p:cNvSpPr/>
          <p:nvPr/>
        </p:nvSpPr>
        <p:spPr>
          <a:xfrm>
            <a:off x="6382512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0" name="Image 1" descr="c:\Users\R9000P\.trae-cn\attachments\6a44a72a3863ec4f600976df\1797403f-8c96-4490-bc28-2cadfbadc1c4_UFBA1701_光合速率变化.png"/>
          <p:cNvPicPr>
            <a:picLocks noChangeAspect="true"/>
          </p:cNvPicPr>
          <p:nvPr/>
        </p:nvPicPr>
        <p:blipFill>
          <a:blip r:embed="rId3"/>
          <a:srcRect/>
          <a:stretch/>
        </p:blipFill>
        <p:spPr>
          <a:xfrm>
            <a:off x="6455664" y="1307592"/>
            <a:ext cx="5102352" cy="1821485"/>
          </a:xfrm>
          <a:prstGeom prst="rect">
            <a:avLst/>
          </a:prstGeom>
        </p:spPr>
      </p:pic>
      <p:sp>
        <p:nvSpPr>
          <p:cNvPr id="81" name="Shape 11"/>
          <p:cNvSpPr/>
          <p:nvPr/>
        </p:nvSpPr>
        <p:spPr>
          <a:xfrm>
            <a:off x="6473952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Text 12"/>
          <p:cNvSpPr/>
          <p:nvPr/>
        </p:nvSpPr>
        <p:spPr>
          <a:xfrm>
            <a:off x="6528816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光合速率变化</a:t>
            </a:r>
            <a:endParaRPr lang="en-US" sz="950" dirty="false"/>
          </a:p>
        </p:txBody>
      </p:sp>
      <p:sp>
        <p:nvSpPr>
          <p:cNvPr id="83" name="Shape 13"/>
          <p:cNvSpPr/>
          <p:nvPr/>
        </p:nvSpPr>
        <p:spPr>
          <a:xfrm>
            <a:off x="566928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4" name="Image 2" descr="c:\Users\R9000P\.trae-cn\attachments\6a44a72a3863ec4f600976df\a20b54ce-147b-47a4-a886-6d8179c9ecd5_UFBA1701_生物量变化.png"/>
          <p:cNvPicPr>
            <a:picLocks noChangeAspect="true"/>
          </p:cNvPicPr>
          <p:nvPr/>
        </p:nvPicPr>
        <p:blipFill>
          <a:blip r:embed="rId4"/>
          <a:srcRect/>
          <a:stretch/>
        </p:blipFill>
        <p:spPr>
          <a:xfrm>
            <a:off x="640080" y="3959352"/>
            <a:ext cx="5102352" cy="1821485"/>
          </a:xfrm>
          <a:prstGeom prst="rect">
            <a:avLst/>
          </a:prstGeom>
        </p:spPr>
      </p:pic>
      <p:sp>
        <p:nvSpPr>
          <p:cNvPr id="85" name="Shape 14"/>
          <p:cNvSpPr/>
          <p:nvPr/>
        </p:nvSpPr>
        <p:spPr>
          <a:xfrm>
            <a:off x="658368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Text 15"/>
          <p:cNvSpPr/>
          <p:nvPr/>
        </p:nvSpPr>
        <p:spPr>
          <a:xfrm>
            <a:off x="713232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生物量变化</a:t>
            </a:r>
            <a:endParaRPr lang="en-US" sz="950" dirty="false"/>
          </a:p>
        </p:txBody>
      </p:sp>
      <p:sp>
        <p:nvSpPr>
          <p:cNvPr id="87" name="Shape 16"/>
          <p:cNvSpPr/>
          <p:nvPr/>
        </p:nvSpPr>
        <p:spPr>
          <a:xfrm>
            <a:off x="6382512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8" name="Image 3" descr="c:\Users\R9000P\.trae-cn\attachments\6a44a72a3863ec4f600976df\2e32f22a-7696-40b9-9539-e7910ed19d00_UFBA1701_叶面积指数变化.png"/>
          <p:cNvPicPr>
            <a:picLocks noChangeAspect="true"/>
          </p:cNvPicPr>
          <p:nvPr/>
        </p:nvPicPr>
        <p:blipFill>
          <a:blip r:embed="rId5"/>
          <a:srcRect/>
          <a:stretch/>
        </p:blipFill>
        <p:spPr>
          <a:xfrm>
            <a:off x="6455664" y="3959352"/>
            <a:ext cx="5102352" cy="1821485"/>
          </a:xfrm>
          <a:prstGeom prst="rect">
            <a:avLst/>
          </a:prstGeom>
        </p:spPr>
      </p:pic>
      <p:sp>
        <p:nvSpPr>
          <p:cNvPr id="89" name="Shape 17"/>
          <p:cNvSpPr/>
          <p:nvPr/>
        </p:nvSpPr>
        <p:spPr>
          <a:xfrm>
            <a:off x="6473952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Text 18"/>
          <p:cNvSpPr/>
          <p:nvPr/>
        </p:nvSpPr>
        <p:spPr>
          <a:xfrm>
            <a:off x="6528816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叶面积指数变化</a:t>
            </a:r>
            <a:endParaRPr lang="en-US" sz="950" dirty="fals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ECFEFF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93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false"/>
          </a:p>
        </p:txBody>
      </p:sp>
      <p:sp>
        <p:nvSpPr>
          <p:cNvPr id="96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UFWM1401</a:t>
            </a:r>
            <a:endParaRPr lang="en-US" sz="2500" dirty="false"/>
          </a:p>
        </p:txBody>
      </p:sp>
      <p:sp>
        <p:nvSpPr>
          <p:cNvPr id="97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85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四项指标变化</a:t>
            </a:r>
            <a:endParaRPr lang="en-US" sz="850" dirty="false"/>
          </a:p>
        </p:txBody>
      </p:sp>
      <p:sp>
        <p:nvSpPr>
          <p:cNvPr id="98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9" name="Shape 7"/>
          <p:cNvSpPr/>
          <p:nvPr/>
        </p:nvSpPr>
        <p:spPr>
          <a:xfrm>
            <a:off x="566928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0" name="Image 0" descr="c:\Users\R9000P\.trae-cn\attachments\6a44a72a3863ec4f600976df\aeadc280-d8c9-4586-aaed-24dc53b4fb08_UFWM1401_根系深度变化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640080" y="1307592"/>
            <a:ext cx="5102352" cy="1821485"/>
          </a:xfrm>
          <a:prstGeom prst="rect">
            <a:avLst/>
          </a:prstGeom>
        </p:spPr>
      </p:pic>
      <p:sp>
        <p:nvSpPr>
          <p:cNvPr id="101" name="Shape 8"/>
          <p:cNvSpPr/>
          <p:nvPr/>
        </p:nvSpPr>
        <p:spPr>
          <a:xfrm>
            <a:off x="658368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Text 9"/>
          <p:cNvSpPr/>
          <p:nvPr/>
        </p:nvSpPr>
        <p:spPr>
          <a:xfrm>
            <a:off x="713232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根系深度变化</a:t>
            </a:r>
            <a:endParaRPr lang="en-US" sz="950" dirty="false"/>
          </a:p>
        </p:txBody>
      </p:sp>
      <p:sp>
        <p:nvSpPr>
          <p:cNvPr id="103" name="Shape 10"/>
          <p:cNvSpPr/>
          <p:nvPr/>
        </p:nvSpPr>
        <p:spPr>
          <a:xfrm>
            <a:off x="6382512" y="123444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4" name="Image 1" descr="c:\Users\R9000P\.trae-cn\attachments\6a44a72a3863ec4f600976df\e558ab64-98e7-4af7-8afe-286be8a47edc_UFWM1401_光合速率变化.png"/>
          <p:cNvPicPr>
            <a:picLocks noChangeAspect="true"/>
          </p:cNvPicPr>
          <p:nvPr/>
        </p:nvPicPr>
        <p:blipFill>
          <a:blip r:embed="rId3"/>
          <a:srcRect/>
          <a:stretch/>
        </p:blipFill>
        <p:spPr>
          <a:xfrm>
            <a:off x="6455664" y="1307592"/>
            <a:ext cx="5102352" cy="1821485"/>
          </a:xfrm>
          <a:prstGeom prst="rect">
            <a:avLst/>
          </a:prstGeom>
        </p:spPr>
      </p:pic>
      <p:sp>
        <p:nvSpPr>
          <p:cNvPr id="105" name="Shape 11"/>
          <p:cNvSpPr/>
          <p:nvPr/>
        </p:nvSpPr>
        <p:spPr>
          <a:xfrm>
            <a:off x="6473952" y="311810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Text 12"/>
          <p:cNvSpPr/>
          <p:nvPr/>
        </p:nvSpPr>
        <p:spPr>
          <a:xfrm>
            <a:off x="6528816" y="31729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光合速率变化</a:t>
            </a:r>
            <a:endParaRPr lang="en-US" sz="950" dirty="false"/>
          </a:p>
        </p:txBody>
      </p:sp>
      <p:sp>
        <p:nvSpPr>
          <p:cNvPr id="107" name="Shape 13"/>
          <p:cNvSpPr/>
          <p:nvPr/>
        </p:nvSpPr>
        <p:spPr>
          <a:xfrm>
            <a:off x="566928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08" name="Image 2" descr="c:\Users\R9000P\.trae-cn\attachments\6a44a72a3863ec4f600976df\04d2f9f2-979e-436c-9220-3b3227938247_UFWM1401_生物量变化.png"/>
          <p:cNvPicPr>
            <a:picLocks noChangeAspect="true"/>
          </p:cNvPicPr>
          <p:nvPr/>
        </p:nvPicPr>
        <p:blipFill>
          <a:blip r:embed="rId4"/>
          <a:srcRect/>
          <a:stretch/>
        </p:blipFill>
        <p:spPr>
          <a:xfrm>
            <a:off x="640080" y="3959352"/>
            <a:ext cx="5102352" cy="1821485"/>
          </a:xfrm>
          <a:prstGeom prst="rect">
            <a:avLst/>
          </a:prstGeom>
        </p:spPr>
      </p:pic>
      <p:sp>
        <p:nvSpPr>
          <p:cNvPr id="109" name="Shape 14"/>
          <p:cNvSpPr/>
          <p:nvPr/>
        </p:nvSpPr>
        <p:spPr>
          <a:xfrm>
            <a:off x="658368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Text 15"/>
          <p:cNvSpPr/>
          <p:nvPr/>
        </p:nvSpPr>
        <p:spPr>
          <a:xfrm>
            <a:off x="713232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生物量变化</a:t>
            </a:r>
            <a:endParaRPr lang="en-US" sz="950" dirty="false"/>
          </a:p>
        </p:txBody>
      </p:sp>
      <p:sp>
        <p:nvSpPr>
          <p:cNvPr id="111" name="Shape 16"/>
          <p:cNvSpPr/>
          <p:nvPr/>
        </p:nvSpPr>
        <p:spPr>
          <a:xfrm>
            <a:off x="6382512" y="3886200"/>
            <a:ext cx="5248656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2" name="Image 3" descr="c:\Users\R9000P\.trae-cn\attachments\6a44a72a3863ec4f600976df\2851488b-08e3-4142-892e-68308358446f_UFWM1401_叶面积指数变化.png"/>
          <p:cNvPicPr>
            <a:picLocks noChangeAspect="true"/>
          </p:cNvPicPr>
          <p:nvPr/>
        </p:nvPicPr>
        <p:blipFill>
          <a:blip r:embed="rId5"/>
          <a:srcRect/>
          <a:stretch/>
        </p:blipFill>
        <p:spPr>
          <a:xfrm>
            <a:off x="6455664" y="3959352"/>
            <a:ext cx="5102352" cy="1821485"/>
          </a:xfrm>
          <a:prstGeom prst="rect">
            <a:avLst/>
          </a:prstGeom>
        </p:spPr>
      </p:pic>
      <p:sp>
        <p:nvSpPr>
          <p:cNvPr id="113" name="Shape 17"/>
          <p:cNvSpPr/>
          <p:nvPr/>
        </p:nvSpPr>
        <p:spPr>
          <a:xfrm>
            <a:off x="6473952" y="5769864"/>
            <a:ext cx="5065776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4" name="Text 18"/>
          <p:cNvSpPr/>
          <p:nvPr/>
        </p:nvSpPr>
        <p:spPr>
          <a:xfrm>
            <a:off x="6528816" y="58247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95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叶面积指数变化</a:t>
            </a:r>
            <a:endParaRPr lang="en-US" sz="950" dirty="fals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ECFEFF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117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r">
              <a:buNone/>
            </a:pP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false"/>
          </a:p>
        </p:txBody>
      </p:sp>
      <p:sp>
        <p:nvSpPr>
          <p:cNvPr id="120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模型与代码关系</a:t>
            </a:r>
            <a:endParaRPr lang="en-US" sz="2500" dirty="false"/>
          </a:p>
        </p:txBody>
      </p:sp>
      <p:sp>
        <p:nvSpPr>
          <p:cNvPr id="121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>
              <a:buNone/>
            </a:pPr>
            <a:r>
              <a:rPr lang="en-US" sz="85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 / 函数关系图</a:t>
            </a:r>
            <a:endParaRPr lang="en-US" sz="850" dirty="false"/>
          </a:p>
        </p:txBody>
      </p:sp>
      <p:sp>
        <p:nvSpPr>
          <p:cNvPr id="122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3" name="Shape 7"/>
          <p:cNvSpPr/>
          <p:nvPr/>
        </p:nvSpPr>
        <p:spPr>
          <a:xfrm>
            <a:off x="566928" y="1207008"/>
            <a:ext cx="4617720" cy="498348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4" name="Image 0" descr="c:\Users\R9000P\.trae-cn\attachments\6a44a72a3863ec4f600976df\1f9faa5f-c3bd-4114-8e05-c8deb2f42068_草莓模型原理图.png"/>
          <p:cNvPicPr>
            <a:picLocks noChangeAspect="true"/>
          </p:cNvPicPr>
          <p:nvPr/>
        </p:nvPicPr>
        <p:blipFill>
          <a:blip r:embed="rId2"/>
          <a:srcRect/>
          <a:stretch/>
        </p:blipFill>
        <p:spPr>
          <a:xfrm>
            <a:off x="640080" y="1280160"/>
            <a:ext cx="4471416" cy="4537253"/>
          </a:xfrm>
          <a:prstGeom prst="rect">
            <a:avLst/>
          </a:prstGeom>
        </p:spPr>
      </p:pic>
      <p:sp>
        <p:nvSpPr>
          <p:cNvPr id="125" name="Shape 8"/>
          <p:cNvSpPr/>
          <p:nvPr/>
        </p:nvSpPr>
        <p:spPr>
          <a:xfrm>
            <a:off x="658368" y="5806440"/>
            <a:ext cx="4434840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Text 9"/>
          <p:cNvSpPr/>
          <p:nvPr/>
        </p:nvSpPr>
        <p:spPr>
          <a:xfrm>
            <a:off x="713232" y="5861304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11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草莓模型原理图</a:t>
            </a:r>
            <a:endParaRPr lang="en-US" sz="1100" dirty="false"/>
          </a:p>
        </p:txBody>
      </p:sp>
      <p:sp>
        <p:nvSpPr>
          <p:cNvPr id="127" name="Shape 10"/>
          <p:cNvSpPr/>
          <p:nvPr/>
        </p:nvSpPr>
        <p:spPr>
          <a:xfrm>
            <a:off x="5468112" y="1207008"/>
            <a:ext cx="6144768" cy="4983480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28" name="Image 1" descr="c:\Users\R9000P\.trae-cn\attachments\6a44a72a3863ec4f600976df\35a29301-0742-40db-924e-447a331087c7_代码函数关系图.png"/>
          <p:cNvPicPr>
            <a:picLocks noChangeAspect="true"/>
          </p:cNvPicPr>
          <p:nvPr/>
        </p:nvPicPr>
        <p:blipFill>
          <a:blip r:embed="rId3"/>
          <a:srcRect/>
          <a:stretch/>
        </p:blipFill>
        <p:spPr>
          <a:xfrm>
            <a:off x="5541264" y="1280160"/>
            <a:ext cx="5998464" cy="4537253"/>
          </a:xfrm>
          <a:prstGeom prst="rect">
            <a:avLst/>
          </a:prstGeom>
        </p:spPr>
      </p:pic>
      <p:sp>
        <p:nvSpPr>
          <p:cNvPr id="129" name="Shape 11"/>
          <p:cNvSpPr/>
          <p:nvPr/>
        </p:nvSpPr>
        <p:spPr>
          <a:xfrm>
            <a:off x="5559552" y="5806440"/>
            <a:ext cx="5961888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0" name="Text 12"/>
          <p:cNvSpPr/>
          <p:nvPr/>
        </p:nvSpPr>
        <p:spPr>
          <a:xfrm>
            <a:off x="5614416" y="58613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indent="0" algn="ctr">
              <a:buNone/>
            </a:pPr>
            <a:r>
              <a:rPr lang="en-US" sz="11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代码函数关系图</a:t>
            </a:r>
            <a:endParaRPr lang="en-US" sz="1100" dirty="fals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133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4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false" lang="en-US" sz="800" b="false" i="false" u="none" strike="noStrike" kern="1200" cap="none" spc="0" normalizeH="false" baseline="0" noProof="false" dirty="false">
                <a:ln>
                  <a:noFill/>
                </a:ln>
                <a:solidFill>
                  <a:srgbClr val="5B7B8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kumimoji="false" lang="en-US" sz="8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false" lang="en-US" sz="25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164E6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模型与代码关系</a:t>
            </a:r>
            <a:endParaRPr kumimoji="false" lang="en-US" sz="25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false" lang="en-US" sz="850" b="false" i="false" u="none" strike="noStrike" kern="1200" cap="none" spc="0" normalizeH="false" baseline="0" noProof="false" dirty="false">
                <a:ln>
                  <a:noFill/>
                </a:ln>
                <a:solidFill>
                  <a:srgbClr val="5B7B8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 / 函数关系图</a:t>
            </a:r>
            <a:endParaRPr kumimoji="false" lang="en-US" sz="85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9" name="Shape 7"/>
          <p:cNvSpPr/>
          <p:nvPr/>
        </p:nvSpPr>
        <p:spPr>
          <a:xfrm>
            <a:off x="566928" y="1207008"/>
            <a:ext cx="4617720" cy="498348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0" name="Shape 8"/>
          <p:cNvSpPr/>
          <p:nvPr/>
        </p:nvSpPr>
        <p:spPr>
          <a:xfrm>
            <a:off x="658368" y="5806440"/>
            <a:ext cx="4434840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" name="Text 9"/>
          <p:cNvSpPr/>
          <p:nvPr/>
        </p:nvSpPr>
        <p:spPr>
          <a:xfrm>
            <a:off x="713232" y="5861304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</a:rPr>
              <a:t>整体工作流程图</a:t>
            </a:r>
            <a:endParaRPr kumimoji="false" lang="en-US" sz="11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5468112" y="1207008"/>
            <a:ext cx="6144768" cy="4983480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3" name="Shape 11"/>
          <p:cNvSpPr/>
          <p:nvPr/>
        </p:nvSpPr>
        <p:spPr>
          <a:xfrm>
            <a:off x="5559552" y="5806440"/>
            <a:ext cx="5961888" cy="9144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4" name="Text 12"/>
          <p:cNvSpPr/>
          <p:nvPr/>
        </p:nvSpPr>
        <p:spPr>
          <a:xfrm>
            <a:off x="5614416" y="58613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r>
              <a:rPr kumimoji="false" lang="en-US" sz="1100" b="true" i="false" u="none" strike="noStrike" kern="1200" cap="none" spc="0" normalizeH="false" baseline="0" noProof="false" dirty="false" err="true">
                <a:ln>
                  <a:noFill/>
                </a:ln>
                <a:solidFill>
                  <a:srgbClr val="164E6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关系图</a:t>
            </a:r>
            <a:endParaRPr kumimoji="false" lang="en-US" sz="11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45" name="图片 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316737"/>
            <a:ext cx="5961888" cy="4416552"/>
          </a:xfrm>
          <a:prstGeom prst="rect">
            <a:avLst/>
          </a:prstGeom>
        </p:spPr>
      </p:pic>
      <p:pic>
        <p:nvPicPr>
          <p:cNvPr id="146" name="图片 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38" y="2061521"/>
            <a:ext cx="4617720" cy="3052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p/>
        </p:txBody>
      </p:sp>
      <p:sp>
        <p:nvSpPr>
          <p:cNvPr id="149" name="Shape 1"/>
          <p:cNvSpPr/>
          <p:nvPr/>
        </p:nvSpPr>
        <p:spPr>
          <a:xfrm rot="2100000">
            <a:off x="-640080" y="-548640"/>
            <a:ext cx="2743200" cy="2743200"/>
          </a:xfrm>
          <a:prstGeom prst="arc">
            <a:avLst/>
          </a:prstGeom>
          <a:noFill/>
          <a:ln w="254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Shape 2"/>
          <p:cNvSpPr/>
          <p:nvPr/>
        </p:nvSpPr>
        <p:spPr>
          <a:xfrm>
            <a:off x="0" y="6556248"/>
            <a:ext cx="12191695" cy="45720"/>
          </a:xfrm>
          <a:prstGeom prst="rect">
            <a:avLst/>
          </a:prstGeom>
          <a:solidFill>
            <a:srgbClr val="BDECF4"/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Text 3"/>
          <p:cNvSpPr/>
          <p:nvPr/>
        </p:nvSpPr>
        <p:spPr>
          <a:xfrm>
            <a:off x="11201400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false" lang="en-US" sz="800" b="false" i="false" u="none" strike="noStrike" kern="1200" cap="none" spc="0" normalizeH="false" baseline="0" noProof="false" dirty="false">
                <a:ln>
                  <a:noFill/>
                </a:ln>
                <a:solidFill>
                  <a:srgbClr val="5B7B8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800" dirty="false">
                <a:solidFill>
                  <a:srgbClr val="5B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kumimoji="false" lang="en-US" sz="8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502920" y="2560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500" b="true" dirty="false">
                <a:solidFill>
                  <a:srgbClr val="164E63"/>
                </a:solidFill>
                <a:latin typeface="Microsoft YaHei" pitchFamily="34" charset="0"/>
                <a:ea typeface="Microsoft YaHei" pitchFamily="34" charset="-122"/>
              </a:rPr>
              <a:t>关键数据对比</a:t>
            </a:r>
            <a:endParaRPr kumimoji="false" lang="en-US" sz="25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530352" y="7498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l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false" lang="en-US" sz="850" b="false" i="false" u="none" strike="noStrike" kern="1200" cap="none" spc="0" normalizeH="false" baseline="0" noProof="false" dirty="false">
                <a:ln>
                  <a:noFill/>
                </a:ln>
                <a:solidFill>
                  <a:srgbClr val="5B7B83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原理图 / 函数关系图</a:t>
            </a:r>
            <a:endParaRPr kumimoji="false" lang="en-US" sz="85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530352" y="1024128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5" name="Text 9"/>
          <p:cNvSpPr/>
          <p:nvPr/>
        </p:nvSpPr>
        <p:spPr>
          <a:xfrm>
            <a:off x="713232" y="5861304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false" lang="en-US" sz="11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354932" y="1207008"/>
            <a:ext cx="11257948" cy="4983480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 w="8255">
            <a:solidFill>
              <a:srgbClr val="BDECF4"/>
            </a:solidFill>
            <a:prstDash val="solid"/>
          </a:ln>
          <a:effectLst>
            <a:outerShdw blurRad="15240" dist="50800" dir="2700000" algn="bl" rotWithShape="false">
              <a:srgbClr val="B6DCE4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7" name="Shape 11"/>
          <p:cNvSpPr/>
          <p:nvPr/>
        </p:nvSpPr>
        <p:spPr>
          <a:xfrm flipV="true">
            <a:off x="502921" y="5815583"/>
            <a:ext cx="11018520" cy="45719"/>
          </a:xfrm>
          <a:prstGeom prst="rect">
            <a:avLst/>
          </a:prstGeom>
          <a:solidFill>
            <a:srgbClr val="BDECF4">
              <a:alpha val="80000"/>
            </a:srgbClr>
          </a:solidFill>
          <a:ln w="12700">
            <a:solidFill>
              <a:srgbClr val="BDEC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8" name="Text 12"/>
          <p:cNvSpPr/>
          <p:nvPr/>
        </p:nvSpPr>
        <p:spPr>
          <a:xfrm>
            <a:off x="5614416" y="586130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/>
          <a:lstStyle/>
          <a:p>
            <a:pPr marL="0" marR="0" lvl="0" indent="0" algn="ctr" defTabSz="914400" rtl="false" eaLnBrk="true" fontAlgn="auto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false" lang="en-US" sz="1100" b="false" i="false" u="none" strike="noStrike" kern="1200" cap="none" spc="0" normalizeH="false" baseline="0" noProof="false" dirty="fals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pic>
        <p:nvPicPr>
          <p:cNvPr id="159" name="图片 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13" y="1207007"/>
            <a:ext cx="10040606" cy="46295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2026-07-01T14:09:48Z</dcterms:created>
  <dcterms:modified xsi:type="dcterms:W3CDTF">2026-07-01T14:09:48Z</dcterms:modified>
</cp:coreProperties>
</file>