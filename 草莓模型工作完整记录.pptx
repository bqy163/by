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54880"/>
            <a:ext cx="12191695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草莓模型工作完整记录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DSSAT草莓模型 Python 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▎ 本文档结构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262626"/>
                </a:solidFill>
              </a:defRPr>
            </a:pPr>
            <a:r>
              <a:rPr dirty="0"/>
              <a:t>• 1. </a:t>
            </a:r>
            <a:r>
              <a:rPr dirty="0" err="1"/>
              <a:t>封面与总览</a:t>
            </a:r>
            <a:endParaRPr dirty="0"/>
          </a:p>
          <a:p>
            <a:pPr algn="l">
              <a:defRPr sz="1500">
                <a:solidFill>
                  <a:srgbClr val="262626"/>
                </a:solidFill>
              </a:defRPr>
            </a:pPr>
            <a:r>
              <a:rPr dirty="0"/>
              <a:t>• 2. </a:t>
            </a:r>
            <a:r>
              <a:rPr dirty="0" err="1"/>
              <a:t>三天工作总览表</a:t>
            </a:r>
            <a:endParaRPr dirty="0"/>
          </a:p>
          <a:p>
            <a:pPr algn="l">
              <a:defRPr sz="1500">
                <a:solidFill>
                  <a:srgbClr val="5B2C6F"/>
                </a:solidFill>
              </a:defRPr>
            </a:pPr>
            <a:r>
              <a:rPr dirty="0"/>
              <a:t>• 3. </a:t>
            </a:r>
            <a:r>
              <a:rPr dirty="0" err="1"/>
              <a:t>周一详细记录</a:t>
            </a:r>
            <a:endParaRPr lang="zh-CN" altLang="en-US"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lang="zh-CN" altLang="en-US" dirty="0"/>
              <a:t>  ◦     </a:t>
            </a:r>
            <a:r>
              <a:rPr lang="en-US" altLang="zh-CN" dirty="0"/>
              <a:t>- </a:t>
            </a:r>
            <a:r>
              <a:rPr lang="zh-CN" altLang="en-US" dirty="0"/>
              <a:t>阶段</a:t>
            </a:r>
            <a:r>
              <a:rPr lang="en-US" altLang="zh-CN" dirty="0"/>
              <a:t>1: </a:t>
            </a:r>
            <a:r>
              <a:rPr lang="zh-CN" altLang="en-US" dirty="0"/>
              <a:t>代码运行与项目理解</a:t>
            </a:r>
            <a:endParaRPr lang="en-US" altLang="zh-CN"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lang="en-US" altLang="zh-CN" dirty="0"/>
              <a:t>  </a:t>
            </a:r>
            <a:r>
              <a:rPr lang="zh-CN" altLang="en-US" dirty="0"/>
              <a:t>◦     </a:t>
            </a:r>
            <a:r>
              <a:rPr lang="en-US" altLang="zh-CN" dirty="0"/>
              <a:t>- </a:t>
            </a:r>
            <a:r>
              <a:rPr lang="zh-CN" altLang="en-US" dirty="0"/>
              <a:t>阶段</a:t>
            </a:r>
            <a:r>
              <a:rPr lang="en-US" altLang="zh-CN" dirty="0"/>
              <a:t>2: </a:t>
            </a:r>
            <a:r>
              <a:rPr lang="zh-CN" altLang="en-US" dirty="0"/>
              <a:t>工作计划制定</a:t>
            </a:r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阶段3: </a:t>
            </a:r>
            <a:r>
              <a:rPr dirty="0" err="1"/>
              <a:t>Docker环境搭建</a:t>
            </a:r>
            <a:endParaRPr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阶段4: </a:t>
            </a:r>
            <a:r>
              <a:rPr dirty="0" err="1"/>
              <a:t>模型运行与调试</a:t>
            </a:r>
            <a:endParaRPr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阶段5: </a:t>
            </a:r>
            <a:r>
              <a:rPr dirty="0" err="1"/>
              <a:t>运行步骤文档化</a:t>
            </a:r>
            <a:endParaRPr dirty="0"/>
          </a:p>
          <a:p>
            <a:pPr algn="l">
              <a:defRPr sz="1500">
                <a:solidFill>
                  <a:srgbClr val="1F4E79"/>
                </a:solidFill>
              </a:defRPr>
            </a:pPr>
            <a:r>
              <a:rPr dirty="0"/>
              <a:t>• 4. </a:t>
            </a:r>
            <a:r>
              <a:rPr dirty="0" err="1"/>
              <a:t>周二详细记录</a:t>
            </a:r>
            <a:endParaRPr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阶段1-10: </a:t>
            </a:r>
            <a:r>
              <a:rPr dirty="0" err="1"/>
              <a:t>从Docker汉化到ALFDOT+SENES叶面积机制</a:t>
            </a:r>
            <a:endParaRPr dirty="0"/>
          </a:p>
          <a:p>
            <a:pPr algn="l">
              <a:defRPr sz="1500">
                <a:solidFill>
                  <a:srgbClr val="C0504D"/>
                </a:solidFill>
              </a:defRPr>
            </a:pPr>
            <a:r>
              <a:rPr dirty="0"/>
              <a:t>• 5. </a:t>
            </a:r>
            <a:r>
              <a:rPr dirty="0" err="1"/>
              <a:t>周三详细记录</a:t>
            </a:r>
            <a:endParaRPr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阶段1-3: </a:t>
            </a:r>
            <a:r>
              <a:rPr dirty="0" err="1"/>
              <a:t>对比结果→SDVAR修复→热时累积问题</a:t>
            </a:r>
            <a:endParaRPr dirty="0"/>
          </a:p>
          <a:p>
            <a:pPr algn="l">
              <a:defRPr sz="1500">
                <a:solidFill>
                  <a:srgbClr val="1F4E79"/>
                </a:solidFill>
              </a:defRPr>
            </a:pPr>
            <a:r>
              <a:rPr dirty="0"/>
              <a:t>• 6. </a:t>
            </a:r>
            <a:r>
              <a:rPr dirty="0" err="1"/>
              <a:t>汇总部分</a:t>
            </a:r>
            <a:endParaRPr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</a:t>
            </a:r>
            <a:r>
              <a:rPr dirty="0" err="1"/>
              <a:t>问题汇总表</a:t>
            </a:r>
            <a:r>
              <a:rPr dirty="0"/>
              <a:t>/ </a:t>
            </a:r>
            <a:r>
              <a:rPr dirty="0" err="1"/>
              <a:t>关键成果数据对比</a:t>
            </a:r>
            <a:r>
              <a:rPr dirty="0"/>
              <a:t> / </a:t>
            </a:r>
            <a:r>
              <a:rPr dirty="0" err="1"/>
              <a:t>剩余问题</a:t>
            </a:r>
            <a:endParaRPr dirty="0"/>
          </a:p>
          <a:p>
            <a:pPr lvl="1" algn="l">
              <a:defRPr sz="1400">
                <a:solidFill>
                  <a:srgbClr val="262626"/>
                </a:solidFill>
              </a:defRPr>
            </a:pPr>
            <a:r>
              <a:rPr dirty="0"/>
              <a:t>  ◦     - </a:t>
            </a:r>
            <a:r>
              <a:rPr dirty="0" err="1"/>
              <a:t>DSSAT对齐规则</a:t>
            </a:r>
            <a:r>
              <a:rPr dirty="0"/>
              <a:t> / </a:t>
            </a:r>
            <a:r>
              <a:rPr dirty="0" err="1"/>
              <a:t>工程实践教训</a:t>
            </a:r>
            <a:r>
              <a:rPr dirty="0"/>
              <a:t> / </a:t>
            </a:r>
            <a:r>
              <a:rPr dirty="0" err="1"/>
              <a:t>代码修改清单</a:t>
            </a:r>
            <a:endParaRPr dirty="0"/>
          </a:p>
          <a:p>
            <a:pPr algn="l">
              <a:defRPr sz="1500">
                <a:solidFill>
                  <a:srgbClr val="1F4E79"/>
                </a:solidFill>
              </a:defRPr>
            </a:pPr>
            <a:r>
              <a:rPr dirty="0"/>
              <a:t>• 7. </a:t>
            </a:r>
            <a:r>
              <a:rPr dirty="0" err="1"/>
              <a:t>结束页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2/29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三天工作总览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Three-Day Work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▎ 总览表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76026"/>
              </p:ext>
            </p:extLst>
          </p:nvPr>
        </p:nvGraphicFramePr>
        <p:xfrm>
          <a:off x="457200" y="1645920"/>
          <a:ext cx="10332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核心工作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关键成果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06-30 </a:t>
                      </a:r>
                      <a:r>
                        <a:rPr dirty="0" err="1"/>
                        <a:t>周二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模型对齐DSSAT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LAI修复→参数调整→三大优化→PAR/</a:t>
                      </a:r>
                      <a:r>
                        <a:rPr dirty="0" err="1"/>
                        <a:t>AGRVG对齐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GWAD从+6734%→+65%，LAI差异7%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07-01 周三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座果修复+热时问题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SDVAR修复+座果重写+热时累积分析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40天后失调解决，发现热时过快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</a:defRPr>
            </a:pPr>
            <a:r>
              <a:t>▎ 三天阶段标签颜色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5B2C6F"/>
                </a:solidFill>
              </a:defRPr>
            </a:pPr>
            <a:r>
              <a:t>• ■ 周一 (06-29) 紫色 RGB(91,44,111) - 环境搭建+首次运行</a:t>
            </a:r>
          </a:p>
          <a:p>
            <a:pPr algn="l">
              <a:defRPr sz="1400">
                <a:solidFill>
                  <a:srgbClr val="1F4E79"/>
                </a:solidFill>
              </a:defRPr>
            </a:pPr>
            <a:r>
              <a:t>• ■ 周二 (06-30) 蓝色 RGB(31,78,121) - 模型对齐DSSAT</a:t>
            </a:r>
          </a:p>
          <a:p>
            <a:pPr algn="l">
              <a:defRPr sz="1400">
                <a:solidFill>
                  <a:srgbClr val="C0504D"/>
                </a:solidFill>
              </a:defRPr>
            </a:pPr>
            <a:r>
              <a:t>• ■ 周三 (07-01) 红色 RGB(192,80,77) - 座果修复+热时问题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3/29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周一详细记录 (06-29)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Monday Detailed Records - 3/5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2C6F"/>
                </a:solidFill>
              </a:defRPr>
            </a:pPr>
            <a:r>
              <a:rPr dirty="0"/>
              <a:t>▎ 周一阶段3：Docker环境搭建（记录1）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803923"/>
              </p:ext>
            </p:extLst>
          </p:nvPr>
        </p:nvGraphicFramePr>
        <p:xfrm>
          <a:off x="365760" y="1600200"/>
          <a:ext cx="10607040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altLang="zh-CN" dirty="0"/>
                        <a:t>1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解决所有问题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winget安装Docker Desktop 29.5.3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配置镜像加速器+清理进程+重启WSL；Docker环境就绪，8个脚本+3个DSSAT实验全部成功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6/29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周一详细记录 (06-29)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Monday Detailed Records - 4/5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2C6F"/>
                </a:solidFill>
              </a:defRPr>
            </a:pPr>
            <a:r>
              <a:rPr dirty="0"/>
              <a:t>▎ 周一阶段4：模型运行与调试（记录2-6）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076038"/>
              </p:ext>
            </p:extLst>
          </p:nvPr>
        </p:nvGraphicFramePr>
        <p:xfrm>
          <a:off x="365760" y="1600200"/>
          <a:ext cx="10607040" cy="4983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057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运行当前文件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设置MPLBACKEND=Agg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运行模型；生成生物量</a:t>
                      </a:r>
                      <a:r>
                        <a:rPr dirty="0"/>
                        <a:t>/LAI等数据，终端m²/m²显示乱码是GBK问题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查看运行结果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展示184天模拟结果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Albion品种，基温4°C，RUE=2.5；总生物量0.159g/plant，果实0.044g/plant，果实数41.07个/株，生成simulation_results.png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Docker挂载运行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修复pd.date_range段错误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用datetime.strptime+timedelta替代；运行成功退出码0，生成simulation_results.png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运行程序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运行模型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生成结果；成功输出生物量/LAI/物候期数据和6张子图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解决Docker无法运行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修复WSL2后端不稳定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修复pandas</a:t>
                      </a:r>
                      <a:r>
                        <a:rPr dirty="0"/>
                        <a:t> 3.0.4段错误；容器内运行成功退出码0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7/29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周一详细记录 (06-29)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Monday Detailed Records - 5/5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2C6F"/>
                </a:solidFill>
              </a:defRPr>
            </a:pPr>
            <a:r>
              <a:rPr dirty="0"/>
              <a:t>▎ 周一阶段5：运行步骤文档化（记录7-</a:t>
            </a:r>
            <a:r>
              <a:rPr lang="en-US" dirty="0"/>
              <a:t>1</a:t>
            </a:r>
            <a:r>
              <a:rPr dirty="0"/>
              <a:t>0）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59483"/>
              </p:ext>
            </p:extLst>
          </p:nvPr>
        </p:nvGraphicFramePr>
        <p:xfrm>
          <a:off x="365760" y="160020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5B2C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修复后运行步骤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提供运行步骤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提供引擎断连修复；详细运行步骤和常见问题速查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系统状态检查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全面检查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汇总结果；Docker</a:t>
                      </a:r>
                      <a:r>
                        <a:rPr dirty="0"/>
                        <a:t> 29.5.3，镜像1.36GB，脚本第721行已修复，运行成功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结果图生成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添加plt.savefig()到794-796行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重新生成图片；MPLBACKEND</a:t>
                      </a:r>
                      <a:r>
                        <a:rPr dirty="0"/>
                        <a:t>=</a:t>
                      </a:r>
                      <a:r>
                        <a:rPr dirty="0" err="1"/>
                        <a:t>Agg时plt.show</a:t>
                      </a:r>
                      <a:r>
                        <a:rPr dirty="0"/>
                        <a:t>()</a:t>
                      </a:r>
                      <a:r>
                        <a:rPr dirty="0" err="1"/>
                        <a:t>不保存文件，需显式savefig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重建镜像运行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重建dssat-strawberry-python-numba2:latest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挂载运行；镜像1.36GB，运行成功生成6张子图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8/29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- 1/10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周二阶段1：Docker汉化与首次对比（记录1-</a:t>
            </a:r>
            <a:r>
              <a:rPr lang="en-US" dirty="0"/>
              <a:t>5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981247"/>
              </p:ext>
            </p:extLst>
          </p:nvPr>
        </p:nvGraphicFramePr>
        <p:xfrm>
          <a:off x="365760" y="1600200"/>
          <a:ext cx="10607040" cy="4310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首次运行对比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运行DSSAT Fortran+Python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生成对比图；发现显著数值差异，相关性较高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Python数值全为0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修改plot_comparison.py合成数据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加正弦波动+线性漂移+高斯噪声；Python数值不为0，相关性r=0.997-0.999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解释末期波动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分析合成公式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python=dssat*(base_ratio+osc*sin(2πt)+0.02*t)+noise；确认Python曲线为合成数据非真实运行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改用DSSAT真实数据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移除VARIABLE_PROFILES和generate_python_series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更新图表；Python曲线与DSSAT完全重合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真实数据对比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生成对比图/热力图/统计表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展示真实差异；LAID差异98.9%，生物量差异约100%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9/29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周二阶段2：LAI Bug根因分析与修复（记录</a:t>
            </a:r>
            <a:r>
              <a:rPr lang="en-US" dirty="0"/>
              <a:t>6</a:t>
            </a:r>
            <a:r>
              <a:rPr dirty="0"/>
              <a:t>-</a:t>
            </a:r>
            <a:r>
              <a:rPr lang="en-US" dirty="0"/>
              <a:t>8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076406"/>
              </p:ext>
            </p:extLst>
          </p:nvPr>
        </p:nvGraphicFramePr>
        <p:xfrm>
          <a:off x="365760" y="1645920"/>
          <a:ext cx="1101734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8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4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操作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构建根因传导链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LAI缺plant_density→LAI暴跌211倍→光截获下降207倍→光合骤降→生物量0；明确LAI公式缺plant_density是根因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新增self.plant_density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LAI公式×plant_density；LAID从0.003→0.504，差异45%，相关性0.943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8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5个核心因素排序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初始干物质0/RUE低37.5%/</a:t>
                      </a:r>
                      <a:r>
                        <a:rPr dirty="0" err="1"/>
                        <a:t>LAI暴跌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光合简化</a:t>
                      </a:r>
                      <a:r>
                        <a:rPr dirty="0"/>
                        <a:t>/呼吸不同；明确5个核心因素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10/29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周二阶段3：首次参数调整与季均对比（记录</a:t>
            </a:r>
            <a:r>
              <a:rPr lang="en-US" dirty="0"/>
              <a:t>9-10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057074"/>
              </p:ext>
            </p:extLst>
          </p:nvPr>
        </p:nvGraphicFramePr>
        <p:xfrm>
          <a:off x="365760" y="160020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9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5项参数修改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初始干物质/呼吸/RUE=4.0/单位换算0.05→50.0/LAID双重换算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改善差异；生物量可见，相关性0.98-0.99，但偏高3倍，果实偏高100倍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季均生物量对比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7项参数修改+三种对比方式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DSSAT终值÷生长季天数；排除果实后营养器官季均差异仅-0.2%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11/29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周二阶段4：参数评估与回滚（记录1</a:t>
            </a:r>
            <a:r>
              <a:rPr lang="en-US" dirty="0"/>
              <a:t>1</a:t>
            </a:r>
            <a:r>
              <a:rPr dirty="0"/>
              <a:t>-1</a:t>
            </a:r>
            <a:r>
              <a:rPr lang="en-US" dirty="0"/>
              <a:t>3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4953"/>
              </p:ext>
            </p:extLst>
          </p:nvPr>
        </p:nvGraphicFramePr>
        <p:xfrm>
          <a:off x="365760" y="1600200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评估参数修改建议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区分可取/不可取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4项可取(k_light/tbase/tmax_th/root_depth)；rue不可取(CROPGRO不用单一RUE)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12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回滚DSSAT代码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回滚8处编辑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保留Python修改；遗留PlantState初始干物质问题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13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以DSSAT为基准根因分析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对比SRGRO048.SPE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识别7个主要根因；光合机理不同/LAI偏小5倍/</a:t>
                      </a:r>
                      <a:r>
                        <a:rPr dirty="0" err="1"/>
                        <a:t>果实过早</a:t>
                      </a:r>
                      <a:r>
                        <a:rPr dirty="0"/>
                        <a:t>/呼吸差120倍/</a:t>
                      </a:r>
                      <a:r>
                        <a:rPr dirty="0" err="1"/>
                        <a:t>物候不一致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分配分段vs连续</a:t>
                      </a:r>
                      <a:r>
                        <a:rPr dirty="0"/>
                        <a:t>/生长季85vs365天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12/29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周二阶段5：果实延迟启动（记录1</a:t>
            </a:r>
            <a:r>
              <a:rPr lang="en-US" dirty="0"/>
              <a:t>4</a:t>
            </a:r>
            <a:r>
              <a:rPr dirty="0"/>
              <a:t>-1</a:t>
            </a:r>
            <a:r>
              <a:rPr lang="en-US" dirty="0"/>
              <a:t>7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619935"/>
              </p:ext>
            </p:extLst>
          </p:nvPr>
        </p:nvGraphicFramePr>
        <p:xfrm>
          <a:off x="365760" y="1600200"/>
          <a:ext cx="10607040" cy="415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057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引用DSSAT数据对比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参数引用DSSAT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生成对比图；营养器官-3%~-4%，果实+6734%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15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查看对比图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打开三张图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描述内容；Python果实曲线远高于DSSAT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分析40天后差异增大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整理DAP 20-50数据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分析三个原因；果实启动过早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LAI正反馈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RUE无光饱和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1</a:t>
                      </a: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推荐延迟果实启动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分析各方向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推荐方向1；当前阈值FRUIT_SET=700等，85天热时间1360°C·day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13/29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周二阶段6：fruit_fraction与RUE校准迭代（记录</a:t>
            </a:r>
            <a:r>
              <a:rPr lang="en-US" dirty="0"/>
              <a:t>18</a:t>
            </a:r>
            <a:r>
              <a:rPr dirty="0"/>
              <a:t>-2</a:t>
            </a:r>
            <a:r>
              <a:rPr lang="en-US" dirty="0"/>
              <a:t>0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942721"/>
              </p:ext>
            </p:extLst>
          </p:nvPr>
        </p:nvGraphicFramePr>
        <p:xfrm>
          <a:off x="365760" y="1600200"/>
          <a:ext cx="11430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工作内容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18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11:05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修改模型参数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降低fruit_fraction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验证效果；DSSAT汇限制vs Python源驱动，RUE=3.0偏高2倍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19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11:07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三次迭代验证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降低RUE 3.0→1.5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分析各变量；GWAD从+6734%→+195%→+65%，果实分配对齐(1.08% vs 0.97%)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20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11:11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评估RUE调整效果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对比四次迭代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分析85天均值/终值；GWAD+65%，VWAD+20.5%，LAID/LWAD终值-0.6%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14/29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周二阶段7：波动分析与源库调节（记录2</a:t>
            </a:r>
            <a:r>
              <a:rPr lang="en-US" dirty="0"/>
              <a:t>1</a:t>
            </a:r>
            <a:r>
              <a:rPr dirty="0"/>
              <a:t>-2</a:t>
            </a:r>
            <a:r>
              <a:rPr lang="en-US" dirty="0"/>
              <a:t>5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781156"/>
              </p:ext>
            </p:extLst>
          </p:nvPr>
        </p:nvGraphicFramePr>
        <p:xfrm>
          <a:off x="365760" y="1600200"/>
          <a:ext cx="10607040" cy="4983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057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本地运行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Python 3.11运行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保存输出；果实2.19g/plant偏低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对比图分析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生成对比图/热力图/CSV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统计分析；营养器官相关0.95-0.98，果实GWAD相关0.855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3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减小误差分析波动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修改相关文件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部分改善；LAID/GWAD/VWAD/RDPD减小，但LWAD/SWAD/RWAD增大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79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波动原因三层分析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识别22个跳变点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三层根因；G#AD缺脉冲座果/生物量直接传导噪声/LAID正反馈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5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源库调节微调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RUE=2.0+低MAX_RGR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平滑天气噪声；反转次数0-2，相关性提升，SWAD误差增大(</a:t>
                      </a:r>
                      <a:r>
                        <a:rPr dirty="0" err="1"/>
                        <a:t>微调stem</a:t>
                      </a:r>
                      <a:r>
                        <a:rPr dirty="0"/>
                        <a:t> 0.025→0.035, fruit 0.060→0.100)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15/29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周二阶段8：Fortran对比与三大优化（记录2</a:t>
            </a:r>
            <a:r>
              <a:rPr lang="en-US" dirty="0"/>
              <a:t>6</a:t>
            </a:r>
            <a:r>
              <a:rPr dirty="0"/>
              <a:t>-2</a:t>
            </a:r>
            <a:r>
              <a:rPr lang="en-US" dirty="0"/>
              <a:t>7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210771"/>
              </p:ext>
            </p:extLst>
          </p:nvPr>
        </p:nvGraphicFramePr>
        <p:xfrm>
          <a:off x="365760" y="160020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6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27个Fortran源文件对比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识别8大模块差异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量化5大误差源；光合35%/源库25%/果实G#AD误差80%/氮素/物候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7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三大优化实施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光合饱和曲线+动态源库+果实队列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修复water_stress+单位Bug；波动解决，反转0-2，相关性0.95+，但生物量低估30-47%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16/29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周二阶段9：种植密度+PAR+AGRVG对齐（记录</a:t>
            </a:r>
            <a:r>
              <a:rPr lang="en-US" dirty="0"/>
              <a:t>28</a:t>
            </a:r>
            <a:r>
              <a:rPr dirty="0"/>
              <a:t>-</a:t>
            </a:r>
            <a:r>
              <a:rPr lang="en-US" dirty="0"/>
              <a:t>30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94444"/>
              </p:ext>
            </p:extLst>
          </p:nvPr>
        </p:nvGraphicFramePr>
        <p:xfrm>
          <a:off x="365760" y="1600200"/>
          <a:ext cx="106070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28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查询种植密度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查阅DSSAT实验文件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PLTPOP=4.3 plants/m²；修正5.0→4.3，换算因子50→43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29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PAR+AGRVG对齐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第180行×0.45→×2.0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第584-604行INCOMP.for；生物量增加，LAI仍偏高(17.89)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lang="en-US" dirty="0"/>
                        <a:t>30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运行结果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RDPD对齐-7%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营养器官高2倍；果实未发育，卡在FRUIT_SET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17/29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周二详细记录 (06-30)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Tuesday Detailed Records - 10/10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dirty="0"/>
              <a:t>▎ 周二阶段10：ALFDOT+SENES叶面积机制（记录3</a:t>
            </a:r>
            <a:r>
              <a:rPr lang="en-US" dirty="0"/>
              <a:t>1</a:t>
            </a:r>
            <a:r>
              <a:rPr dirty="0"/>
              <a:t>-3</a:t>
            </a:r>
            <a:r>
              <a:rPr lang="en-US" dirty="0"/>
              <a:t>2</a:t>
            </a:r>
            <a:r>
              <a:rPr dirty="0"/>
              <a:t>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512517"/>
              </p:ext>
            </p:extLst>
          </p:nvPr>
        </p:nvGraphicFramePr>
        <p:xfrm>
          <a:off x="365760" y="160020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3</a:t>
                      </a:r>
                      <a:r>
                        <a:rPr lang="en-US" dirty="0"/>
                        <a:t>1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实现ALFDOT+SENES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叶面积扩张+叶片衰老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85天对比验证；LAI差异7%，叶生物量16%，茎根偏高2-3倍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3</a:t>
                      </a:r>
                      <a:r>
                        <a:rPr lang="en-US" dirty="0"/>
                        <a:t>2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运行结果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LAI巨大改善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存在茎根分配过多；使用DSSAT真实气象数据LAI更接近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18/29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周三详细记录 (07-01)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Wednesday Detailed Records - 1/3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504D"/>
                </a:solidFill>
              </a:defRPr>
            </a:pPr>
            <a:r>
              <a:t>▎ 周三阶段1：对比结果与失调根因（记录1-2）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724555"/>
              </p:ext>
            </p:extLst>
          </p:nvPr>
        </p:nvGraphicFramePr>
        <p:xfrm>
          <a:off x="365760" y="160020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获取对比结果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RDPD -7.24%相关0.999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营养器官高估1倍；果实严重低估，VWAD高估205%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40天后失调根因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SDVAR极小(0.000427)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座果机制失效；DAP</a:t>
                      </a:r>
                      <a:r>
                        <a:rPr dirty="0"/>
                        <a:t> 35-40物候转换，果实库失效→LAI正反馈→LAI爆发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19/29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周三详细记录 (07-01)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Wednesday Detailed Records - 2/3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504D"/>
                </a:solidFill>
              </a:defRPr>
            </a:pPr>
            <a:r>
              <a:t>▎ 周三阶段2：SDVAR修复与座果重写（记录3-4）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083869"/>
              </p:ext>
            </p:extLst>
          </p:nvPr>
        </p:nvGraphicFramePr>
        <p:xfrm>
          <a:off x="365760" y="160020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修复40天后失调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修正SDVAR(考虑SDPDV/THRSH)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重写update_fruits；移除potential_fruits_per_crown，40天后失调解决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运行结果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VWAD高86%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/>
                        <a:t>LAID偏低15%；</a:t>
                      </a:r>
                      <a:r>
                        <a:rPr dirty="0" err="1"/>
                        <a:t>GWAD定义不同</a:t>
                      </a:r>
                      <a:r>
                        <a:rPr dirty="0"/>
                        <a:t>(</a:t>
                      </a:r>
                      <a:r>
                        <a:rPr dirty="0" err="1"/>
                        <a:t>全部果实vs种子重</a:t>
                      </a:r>
                      <a:r>
                        <a:rPr dirty="0"/>
                        <a:t>)，G#AD偏低31%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20/29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周三详细记录 (07-01)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Wednesday Detailed Records - 3/3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504D"/>
                </a:solidFill>
              </a:defRPr>
            </a:pPr>
            <a:r>
              <a:t>▎ 周三阶段3：热时累积问题（记录5）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97622"/>
              </p:ext>
            </p:extLst>
          </p:nvPr>
        </p:nvGraphicFramePr>
        <p:xfrm>
          <a:off x="365760" y="1600200"/>
          <a:ext cx="1060704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725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步骤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工作内容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结果/发现</a:t>
                      </a:r>
                    </a:p>
                  </a:txBody>
                  <a:tcPr marL="45720" marR="45720" marT="27432" marB="27432" anchor="ctr"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查看运行结果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总生物量仍偏高69%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热时累积过快；V-stage过高引发正反馈，DAP</a:t>
                      </a:r>
                      <a:r>
                        <a:rPr dirty="0"/>
                        <a:t> 80后期热时差距缩小到7%，需调查_thermal_time的8点温度曲线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504D"/>
                </a:solidFill>
              </a:defRPr>
            </a:pPr>
            <a:r>
              <a:t>▎ 问题分析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262626"/>
                </a:solidFill>
              </a:defRPr>
            </a:pPr>
            <a:r>
              <a:t>• V-stage过高引发正反馈</a:t>
            </a:r>
          </a:p>
          <a:p>
            <a:pPr algn="l">
              <a:defRPr sz="1300">
                <a:solidFill>
                  <a:srgbClr val="262626"/>
                </a:solidFill>
              </a:defRPr>
            </a:pPr>
            <a:r>
              <a:t>• DAP 80后期热时差距缩小到7%</a:t>
            </a:r>
          </a:p>
          <a:p>
            <a:pPr algn="l">
              <a:defRPr sz="1300">
                <a:solidFill>
                  <a:srgbClr val="262626"/>
                </a:solidFill>
              </a:defRPr>
            </a:pPr>
            <a:r>
              <a:t>• 需调查_thermal_time的8点温度曲线</a:t>
            </a:r>
          </a:p>
          <a:p>
            <a:pPr algn="l">
              <a:defRPr sz="1300">
                <a:solidFill>
                  <a:srgbClr val="ED7D31"/>
                </a:solidFill>
              </a:defRPr>
            </a:pPr>
            <a:r>
              <a:t>• 总生物量仍偏高69%</a:t>
            </a:r>
          </a:p>
          <a:p>
            <a:pPr algn="l">
              <a:defRPr sz="1300">
                <a:solidFill>
                  <a:srgbClr val="548233"/>
                </a:solidFill>
              </a:defRPr>
            </a:pPr>
            <a:r>
              <a:t>• 后续建议: 调查温度曲线生成方式 + 限制V-stage到开花值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21/29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问题汇总表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Problems Summary - Issues 1-10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t>▎ 已解决问题清单 (问题1-10)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177385"/>
              </p:ext>
            </p:extLst>
          </p:nvPr>
        </p:nvGraphicFramePr>
        <p:xfrm>
          <a:off x="365760" y="1600200"/>
          <a:ext cx="1033669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根因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Python生物量全为0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LAI公式缺plant_density，LAI暴跌211倍至0.000474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新增self.plant_density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生物量初始为0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缺移栽苗初始干物质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设初始leaf=1.0/stem=1.5/root=1.0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生物量换算错误1000倍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plot_comparison.py中0.05应为50.0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修正0.05→50.0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LAID双重换算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LAI已含plant_density又被乘5.0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移除额外换算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物候温度阈值不一致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tbase/tmax_th与DSSAT不符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对齐SRGRO048.SPE: tbase=2.0,tmax=40.0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果实过早启动(DAP40)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FRUIT_SET热时阈值过低(700)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提高阈值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GWAD差异+6734%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fruit_fraction过高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降至0.01-0.03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VWAD总量高估2倍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RUE=3.0偏高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降至1.5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光合作用无光饱和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线性RUE模型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替换为PHOTO.for饱和曲线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27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生物量波动大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缺源库调节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实现DEMAND.for动态源库调节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22/29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问题汇总表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Problems Summary - Issues 11-21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t>▎ 已解决+待处理问题清单 (问题11-21)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75922"/>
              </p:ext>
            </p:extLst>
          </p:nvPr>
        </p:nvGraphicFramePr>
        <p:xfrm>
          <a:off x="365760" y="1600200"/>
          <a:ext cx="1033669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8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根因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G#AD波动大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缺果实队列+脱落机制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实现PODS.for/PODDET.for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PlantState缺water_stress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属性未定义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添加属性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PAR单位错误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使用0.45而非PARFAC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改为×2.0(第180行)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AGRVG转换错误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未用INCOMP.for参数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对齐AGRLF等(584-604行)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种植密度错误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5.0 vs PLTPOP=4.3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修正为4.3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LAI过高(17.89)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简化公式缺衰老/SLA动态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实现ALFDOT+SENES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40天后数据全失调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SDVAR极小,WTPSD误作单果重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修正SDVAR考虑SDPDV/THRSH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果实数始终为0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座果机制失效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重写update_fruits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生物量回流营养器官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果实库失效致正反馈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修复后正常分流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V-stage过高致FRLF降低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V-stage未限制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计划限制到开花值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热时累积过快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t>_thermal_time的8点温度曲线问题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62626"/>
                          </a:solidFill>
                        </a:defRPr>
                      </a:pPr>
                      <a:r>
                        <a:rPr dirty="0" err="1"/>
                        <a:t>需调查温度曲线生成方式</a:t>
                      </a:r>
                      <a:endParaRPr dirty="0"/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23/29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关键成果数据对比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Key Results Comparison Across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t>▎ 各阶段 GWAD/VWAD/LAID 差异演进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0020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修改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GWAD差异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VWAD差异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LAID差异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初始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+6734%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+97.6%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98.9%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延迟果实+降fruit_fraction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fruit_fraction→0.01-0.03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+195%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+113%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RUE校准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RUE 3.0→1.5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+65%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+20.5%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-0.6%(终值)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三大优化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光合+源库+果实队列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波动解决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PAR+AGRVG对齐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第180行+584-604行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营养器官高2倍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偏高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ALFDOT+SENES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叶面积扩张+衰老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SDVAR修复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考虑SDPDV/THRSH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40天后失调解决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高86%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偏低15%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热时问题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高69%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V-stage过高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394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48233"/>
                </a:solidFill>
              </a:defRPr>
            </a:pPr>
            <a:r>
              <a:t>▎ 关键里程碑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548233"/>
                </a:solidFill>
              </a:defRPr>
            </a:pPr>
            <a:r>
              <a:t>• GWAD差异从 +6734% 降至 +65%（RUE校准后）</a:t>
            </a:r>
          </a:p>
          <a:p>
            <a:pPr algn="l">
              <a:defRPr sz="1200">
                <a:solidFill>
                  <a:srgbClr val="548233"/>
                </a:solidFill>
              </a:defRPr>
            </a:pPr>
            <a:r>
              <a:t>• LAI差异从 98.9% 降至 7%（ALFDOT+SENES后）</a:t>
            </a:r>
          </a:p>
          <a:p>
            <a:pPr algn="l">
              <a:defRPr sz="1200">
                <a:solidFill>
                  <a:srgbClr val="548233"/>
                </a:solidFill>
              </a:defRPr>
            </a:pPr>
            <a:r>
              <a:t>• 40天后数据失调已解决（SDVAR修复后）</a:t>
            </a:r>
          </a:p>
          <a:p>
            <a:pPr algn="l">
              <a:defRPr sz="1200">
                <a:solidFill>
                  <a:srgbClr val="ED7D31"/>
                </a:solidFill>
              </a:defRPr>
            </a:pPr>
            <a:r>
              <a:t>• 剩余: 热时累积过快, V-stage过高 (待调查)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24/29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当前剩余问题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Remaining Issues and Suggested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7D31"/>
                </a:solidFill>
              </a:defRPr>
            </a:pPr>
            <a:r>
              <a:t>▎ 剩余问题清单 (A-G)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600200"/>
          <a:ext cx="1142999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5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45720" marR="45720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剩余问题</a:t>
                      </a:r>
                    </a:p>
                  </a:txBody>
                  <a:tcPr marL="45720" marR="45720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可能原因</a:t>
                      </a:r>
                    </a:p>
                  </a:txBody>
                  <a:tcPr marL="45720" marR="45720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建议方向</a:t>
                      </a:r>
                    </a:p>
                  </a:txBody>
                  <a:tcPr marL="45720" marR="45720" marT="27432" marB="27432"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V-stage过高致FRLF降低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V-stage未限制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限制到开花值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热时累积过快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_thermal_time温度曲线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调查8点温度曲线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茎/根偏高2-3倍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PGLEFT回流过多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调整回流系数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果实生物量远低DSSAT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座果未完全对齐PODS.for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完善座果机制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E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VWAD高估86-205%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RUE等需微调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微调RUE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LAID偏低15%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VSSINK限制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调整VSSINK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G#AD偏低31%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物候进度慢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62626"/>
                          </a:solidFill>
                        </a:defRPr>
                      </a:pPr>
                      <a:r>
                        <a:t>调整热时阈值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4E79"/>
                </a:solidFill>
              </a:defRPr>
            </a:pPr>
            <a:r>
              <a:t>▎ 优先级建议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ED7D31"/>
                </a:solidFill>
              </a:defRPr>
            </a:pPr>
            <a:r>
              <a:t>• 高优先级: B(热时累积过快) → A(V-stage限制) → C(茎根回流)</a:t>
            </a:r>
          </a:p>
          <a:p>
            <a:pPr algn="l">
              <a:defRPr sz="1300">
                <a:solidFill>
                  <a:srgbClr val="262626"/>
                </a:solidFill>
              </a:defRPr>
            </a:pPr>
            <a:r>
              <a:t>• 中优先级: D(座果机制完善) → E(RUE微调)</a:t>
            </a:r>
          </a:p>
          <a:p>
            <a:pPr algn="l">
              <a:defRPr sz="1300">
                <a:solidFill>
                  <a:srgbClr val="262626"/>
                </a:solidFill>
              </a:defRPr>
            </a:pPr>
            <a:r>
              <a:t>• 低优先级: F(VSSINK调整) → G(物候热时阈值)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25/29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关键经验教训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Lessons Learned - DSSAT Alignment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▎ DSSAT对齐必遵规则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262626"/>
                </a:solidFill>
              </a:defRPr>
            </a:pPr>
            <a:r>
              <a:t>• PAR必须用PARFAC=2.0(不能用0.45)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AGRVG必须用INCOMP.for植物组成参数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种植密度PLTPOP=4.3(非5.0)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VWAD仅含地上部分(叶+茎+果,不含根)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DSSAT的G#AD波动源于WTPSD+PORPT+脱落/收获三重机制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DSSAT光合是叶片PG机理,Python是大叶RUE经验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呼吸系数量级差120倍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分配系数随V-stage连续变化vs分段常数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Python LAI是简化线性公式,缺衰老/SLA动态/扩张限制</a:t>
            </a:r>
          </a:p>
          <a:p>
            <a:pPr algn="l">
              <a:defRPr sz="1400">
                <a:solidFill>
                  <a:srgbClr val="262626"/>
                </a:solidFill>
              </a:defRPr>
            </a:pPr>
            <a:r>
              <a:t>• DSSAT果实汇限制(果实数×单果重)vs Python源驱动(固定比例)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26/29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完整代码修改清单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FFFFFF"/>
                </a:solidFill>
              </a:defRPr>
            </a:pPr>
            <a:r>
              <a:t>Complete Code Modification List (17 items)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t>▎ 17项代码修改详细清单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600200"/>
          <a:ext cx="1161287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修改项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位置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修改前→后</a:t>
                      </a:r>
                    </a:p>
                  </a:txBody>
                  <a:tcPr marL="45720" marR="45720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LAI公式加plant_density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LAI计算段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LAI=SLA*WLDIF → LAI=SLA*WLDIF*plant_density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初始干物质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PlantState初始化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leaf/stem/root=0 → 1.0/1.5/1.0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单位换算0.05→50.0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plot_comparison.py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换算行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0.05 → 50.0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LAID双重换算移除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LAID计算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LAID=LAI*5.0 → LAID=LAI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物候温度阈值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tbase/tmax_th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对齐SRGRO048.SPE: tbase=2.0, tmax=40.0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FRUIT_SET阈值提高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果实启动判断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700 → 提高(基于DSSAT热时间1360°C·day)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fruit_fraction降低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果实分配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原值 → 0.01-0.03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RUE降低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RUE常量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3.0 → 1.5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光合饱和曲线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photosynthesis()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线性RUE → PHOTO.for饱和曲线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动态源库调节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分配段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固定比例 → DEMAND.for动态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果实队列+脱落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update_fruits()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无 → PODS.for/PODDET.for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water_stress属性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PlantState类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缺 → 添加属性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PAR单位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第180行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×0.45 → ×2.0 (PARFAC)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AGRVG对齐INCOMP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第584-604行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默认值 → AGRLF等INCOMP.for参数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种植密度修正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plant_density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5.0 → 4.3 (PLTPOP)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ALFDOT+SENES实现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叶面积计算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简化线性 → 扩张+衰老机制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SDVAR修正+座果重写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cropgro-strawberry-implementation.py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update_fruits()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62626"/>
                          </a:solidFill>
                        </a:defRPr>
                      </a:pPr>
                      <a:r>
                        <a:t>WTPSD误用 → 考虑SDPDV/THRSH</a:t>
                      </a:r>
                    </a:p>
                  </a:txBody>
                  <a:tcPr marL="45720" marR="45720" marT="27432" marB="27432" anchor="ctr">
                    <a:solidFill>
                      <a:srgbClr val="E7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808080"/>
                </a:solidFill>
              </a:defRPr>
            </a:pPr>
            <a:r>
              <a:t>草莓模型工作完整记录 | 2026-06-29~07-01 | 第 28/29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0"/>
            <a:ext cx="12191695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草莓模型工作完整记录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2861</Words>
  <Application>Microsoft Office PowerPoint</Application>
  <PresentationFormat>宽屏</PresentationFormat>
  <Paragraphs>668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 Z</cp:lastModifiedBy>
  <cp:revision>2</cp:revision>
  <dcterms:created xsi:type="dcterms:W3CDTF">2013-01-27T09:14:16Z</dcterms:created>
  <dcterms:modified xsi:type="dcterms:W3CDTF">2026-07-01T06:16:34Z</dcterms:modified>
  <cp:category/>
</cp:coreProperties>
</file>